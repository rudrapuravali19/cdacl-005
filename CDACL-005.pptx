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bb45161-8991-afdf-0fbf-c69d92ed8409}">
          <p14:sldIdLst>
            <p14:sldId id="256"/>
          </p14:sldIdLst>
        </p14:section>
        <p14:section name="Analysis" id="{f6eaf2a8-d7b8-da43-4151-b3083297889d}">
          <p14:sldIdLst>
            <p14:sldId id="257"/>
            <p14:sldId id="258"/>
            <p14:sldId id="259"/>
          </p14:sldIdLst>
        </p14:section>
        <p14:section name="Conclusion" id="{da28d46d-356e-7c2e-aabb-2781c34a196c}">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342B"/>
                </a:solidFill>
                <a:latin typeface="+mn-lt"/>
              </a:defRPr>
            </a:pPr>
            <a:r>
              <a:rPr sz="1200" b="0" i="0" u="none" strike="noStrike">
                <a:solidFill>
                  <a:srgbClr val="14342B"/>
                </a:solidFill>
                <a:latin typeface="+mn-lt"/>
              </a:rPr>
              <a:t>Typical support by itemset size (%, approx.)</a:t>
            </a:r>
          </a:p>
        </c:rich>
      </c:tx>
      <c:layout/>
      <c:overlay val="0"/>
    </c:title>
    <c:autoTitleDeleted val="0"/>
    <c:plotArea>
      <c:layout/>
      <c:barChart>
        <c:barDir val="col"/>
        <c:grouping val="clustered"/>
        <c:varyColors val="0"/>
        <c:ser>
          <c:idx val="0"/>
          <c:order val="0"/>
          <c:tx>
            <c:strRef>
              <c:f>Sheet1!$B$1</c:f>
              <c:strCache>
                <c:ptCount val="1"/>
                <c:pt idx="0">
                  <c:v>Support (%)</c:v>
                </c:pt>
              </c:strCache>
            </c:strRef>
          </c:tx>
          <c:spPr>
            <a:solidFill>
              <a:srgbClr val="2E7D5B"/>
            </a:solidFill>
            <a:effectLst/>
          </c:spPr>
          <c:invertIfNegative val="0"/>
          <c:dLbls>
            <c:numFmt formatCode="0.0" sourceLinked="0"/>
            <c:txPr>
              <a:bodyPr/>
              <a:lstStyle/>
              <a:p>
                <a:pPr>
                  <a:defRPr b="0" i="0" strike="noStrike" sz="1200" u="none">
                    <a:solidFill>
                      <a:srgbClr val="1B2B24"/>
                    </a:solidFill>
                    <a:latin typeface="+mn-lt"/>
                  </a:defRPr>
                </a:pPr>
              </a:p>
            </c:txPr>
            <c:showLegendKey val="0"/>
            <c:showVal val="1"/>
            <c:showCatName val="0"/>
            <c:showSerName val="0"/>
            <c:showPercent val="0"/>
            <c:showBubbleSize val="0"/>
            <c:showLeaderLines val="0"/>
          </c:dLbls>
          <c:cat>
            <c:multiLvlStrRef>
              <c:f>Sheet1!$A$2:$A$4</c:f>
              <c:multiLvlStrCache>
                <c:ptCount val="3"/>
                <c:lvl>
                  <c:pt idx="0">
                    <c:v>Single items</c:v>
                  </c:pt>
                  <c:pt idx="1">
                    <c:v>2-item sets</c:v>
                  </c:pt>
                  <c:pt idx="2">
                    <c:v>3-item sets</c:v>
                  </c:pt>
                </c:lvl>
              </c:multiLvlStrCache>
            </c:multiLvlStrRef>
          </c:cat>
          <c:val>
            <c:numRef>
              <c:f>Sheet1!$B$2:$B$4</c:f>
              <c:numCache>
                <c:formatCode>General</c:formatCode>
                <c:ptCount val="3"/>
                <c:pt idx="0">
                  <c:v>40</c:v>
                </c:pt>
                <c:pt idx="1">
                  <c:v>10</c:v>
                </c:pt>
                <c:pt idx="2">
                  <c:v>1.5</c:v>
                </c:pt>
              </c:numCache>
            </c:numRef>
          </c:val>
        </c:ser>
        <c:dLbls>
          <c:numFmt formatCode="0.0" sourceLinked="0"/>
          <c:txPr>
            <a:bodyPr/>
            <a:lstStyle/>
            <a:p>
              <a:pPr>
                <a:defRPr b="0" i="0" strike="noStrike" sz="1200" u="none">
                  <a:solidFill>
                    <a:srgbClr val="1B2B2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B24"/>
                </a:solidFill>
                <a:latin typeface="+mn-lt"/>
              </a:defRPr>
            </a:pPr>
            <a:endParaRPr lang="en-US"/>
          </a:p>
        </c:txPr>
        <c:crossAx val="2094734552"/>
        <c:crosses val="autoZero"/>
        <c:auto val="1"/>
        <c:lblAlgn val="ctr"/>
        <c:noMultiLvlLbl val="1"/>
      </c:catAx>
      <c:valAx>
        <c:axId val="2094734552"/>
        <c:scaling>
          <c:orientation val="minMax"/>
          <c:max val="5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a market basket analysis on 39,000 supermarket bills, completed as part of the Certified Data Analyst course at Datamites Institute, Hyderabad. One line on the goal: find what customers buy together and turn it into business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business problem. Retailers collect a lot of billing data but rarely use it. That leads to four gaps: no insight into product relationships, poorly planned layouts, missed cross-selling, and promotions not backed by data. The project addresses all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pipeline. Raw data had about 2 lakh rows in long format; after cleaning and one-hot encoding it became a 39,000 by 51 matrix. Apriori with minimum support of 2 percent (an item set must appear in at least 780 bills) gave 142 frequent item sets, and 703 association rules at 30 percent minimum confidence. Everything was done in Python with Pandas and Mlxtend.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strongest rules. Customers who buy Butter and Bread are 13.9 times more likely to also buy Milk, the strongest association for a bundle. Whenever Jam and Bread are bought together, Butter is always in the basket (100 percent confidence). The chart shows support falling as item sets grow, as the Apriori principle predicts; the values are approximate midpoints from the report. Other patterns: Bread and Milk are the top sellers, most items are bought as single units, and sales peak in December and January.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business actions that follow from the rules: shelf placement, combo offers, cross-selling at the counter and seasonal stocking. The report cites a potential 15 to 20 percent sales uplift from this kind of placement, so present it as potential, not a guaranteed result. Then summarise the skills this project shows: Python, data preparation, association-rule mining, visualisation and turning analysis into business recommendations. Share the GitHub link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5486400" cy="201168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548640" y="3246120"/>
            <a:ext cx="5486400" cy="731520"/>
          </a:xfrm>
          <a:prstGeom prst="rect">
            <a:avLst/>
          </a:prstGeom>
          <a:noFill/>
          <a:ln/>
        </p:spPr>
        <p:txBody>
          <a:bodyPr wrap="square" rtlCol="0"/>
          <a:lstStyle>
            <a:lvl1pPr algn="l" indent="0" marL="0">
              <a:buNone/>
              <a:defRPr lang="en-US" sz="1600" dirty="0">
                <a:solidFill>
                  <a:schemeClr val="accent4"/>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457200" y="4754880"/>
            <a:ext cx="4572000" cy="274320"/>
          </a:xfrm>
          <a:prstGeom prst="rect">
            <a:avLst/>
          </a:prstGeom>
          <a:noFill/>
          <a:ln/>
        </p:spPr>
        <p:txBody>
          <a:bodyPr wrap="square" lIns="0" tIns="0" rIns="0" bIns="0" rtlCol="0" anchor="ctr"/>
          <a:lstStyle/>
          <a:p>
            <a:pPr indent="0" marL="0">
              <a:buNone/>
            </a:pPr>
            <a:r>
              <a:rPr lang="en-US" sz="1000" dirty="0">
                <a:solidFill>
                  <a:srgbClr val="6B7F75"/>
                </a:solidFill>
              </a:rPr>
              <a:t>Market Basket Analysis  |  CDACL-005</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5"/>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nvSpPr>
        <p:spPr>
          <a:xfrm>
            <a:off x="457200" y="4754880"/>
            <a:ext cx="4572000" cy="274320"/>
          </a:xfrm>
          <a:prstGeom prst="rect">
            <a:avLst/>
          </a:prstGeom>
          <a:noFill/>
          <a:ln/>
        </p:spPr>
        <p:txBody>
          <a:bodyPr wrap="square" lIns="0" tIns="0" rIns="0" bIns="0" rtlCol="0" anchor="ctr"/>
          <a:lstStyle/>
          <a:p>
            <a:pPr indent="0" marL="0">
              <a:buNone/>
            </a:pPr>
            <a:r>
              <a:rPr lang="en-US" sz="1000" dirty="0">
                <a:solidFill>
                  <a:srgbClr val="9FC4B0"/>
                </a:solidFill>
              </a:rPr>
              <a:t>Market Basket Analysis  |  CDACL-005</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C4B0"/>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github.com/RudrapuRavali/CDACL-005" TargetMode="External"/><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5486400" cy="2011680"/>
          </a:xfrm>
          <a:prstGeom prst="rect">
            <a:avLst/>
          </a:prstGeom>
          <a:noFill/>
          <a:ln/>
        </p:spPr>
        <p:txBody>
          <a:bodyPr wrap="square" lIns="0" tIns="0" rIns="0" bIns="0" rtlCol="0" anchor="b"/>
          <a:lstStyle/>
          <a:p>
            <a:pPr algn="l" indent="0" marL="0">
              <a:buNone/>
            </a:pPr>
            <a:r>
              <a:rPr lang="en-US" sz="3400" b="1" dirty="0">
                <a:solidFill>
                  <a:schemeClr val="bg1"/>
                </a:solidFill>
              </a:rPr>
              <a:t>Market Basket Analysis of Supermarket Transactions</a:t>
            </a:r>
            <a:endParaRPr lang="en-US" sz="3400" dirty="0"/>
          </a:p>
        </p:txBody>
      </p:sp>
      <p:sp>
        <p:nvSpPr>
          <p:cNvPr id="3" name="Text 0"/>
          <p:cNvSpPr/>
          <p:nvPr>
            <p:ph idx="101" type="body" hasCustomPrompt="1"/>
          </p:nvPr>
        </p:nvSpPr>
        <p:spPr>
          <a:xfrm>
            <a:off x="548640" y="3246120"/>
            <a:ext cx="5486400" cy="731520"/>
          </a:xfrm>
          <a:prstGeom prst="rect">
            <a:avLst/>
          </a:prstGeom>
          <a:noFill/>
          <a:ln/>
        </p:spPr>
        <p:txBody>
          <a:bodyPr wrap="square" lIns="0" tIns="0" rIns="0" bIns="0" rtlCol="0" anchor="t"/>
          <a:lstStyle/>
          <a:p>
            <a:pPr algn="l" indent="0" marL="0">
              <a:buNone/>
            </a:pPr>
            <a:r>
              <a:rPr lang="en-US" sz="1600" dirty="0">
                <a:solidFill>
                  <a:schemeClr val="accent4"/>
                </a:solidFill>
              </a:rPr>
              <a:t>Discovering what customers buy together using the Apriori algorithm</a:t>
            </a:r>
            <a:endParaRPr lang="en-US" sz="1600" dirty="0"/>
          </a:p>
        </p:txBody>
      </p:sp>
      <p:sp>
        <p:nvSpPr>
          <p:cNvPr id="4" name="Text 2"/>
          <p:cNvSpPr txBox="1"/>
          <p:nvPr/>
        </p:nvSpPr>
        <p:spPr>
          <a:xfrm>
            <a:off x="548640" y="4114800"/>
            <a:ext cx="5486400" cy="640080"/>
          </a:xfrm>
          <a:prstGeom prst="rect">
            <a:avLst/>
          </a:prstGeom>
          <a:noFill/>
          <a:ln/>
        </p:spPr>
        <p:txBody>
          <a:bodyPr wrap="square" lIns="0" tIns="0" rIns="0" bIns="0" rtlCol="0" anchor="t"/>
          <a:lstStyle/>
          <a:p>
            <a:pPr indent="0" marL="0">
              <a:buNone/>
            </a:pPr>
            <a:r>
              <a:rPr lang="en-US" sz="1600" b="1" dirty="0">
                <a:solidFill>
                  <a:schemeClr val="bg1"/>
                </a:solidFill>
              </a:rPr>
              <a:t>Rudrapu Ravali</a:t>
            </a:r>
            <a:endParaRPr lang="en-US" sz="1600" dirty="0"/>
          </a:p>
          <a:p>
            <a:pPr indent="0" marL="0">
              <a:buNone/>
            </a:pPr>
            <a:r>
              <a:rPr lang="en-US" sz="1200" dirty="0">
                <a:solidFill>
                  <a:schemeClr val="accent4"/>
                </a:solidFill>
              </a:rPr>
              <a:t>Certified Data Analyst Project (CDACL-005)  |  Datamites Institute, Hyderabad</a:t>
            </a:r>
            <a:endParaRPr lang="en-US" sz="1600" dirty="0"/>
          </a:p>
        </p:txBody>
      </p:sp>
      <p:sp>
        <p:nvSpPr>
          <p:cNvPr id="5" name="Cart circle"/>
          <p:cNvSpPr/>
          <p:nvPr/>
        </p:nvSpPr>
        <p:spPr>
          <a:xfrm>
            <a:off x="6400800" y="1005840"/>
            <a:ext cx="2377440" cy="2377440"/>
          </a:xfrm>
          <a:prstGeom prst="ellipse">
            <a:avLst/>
          </a:prstGeom>
          <a:solidFill>
            <a:schemeClr val="accent1"/>
          </a:solidFill>
          <a:ln/>
        </p:spPr>
      </p:sp>
      <p:pic>
        <p:nvPicPr>
          <p:cNvPr id="6" name="Image 0" descr="Shopping cart icon">    </p:cNvPr>
          <p:cNvPicPr>
            <a:picLocks noChangeAspect="1"/>
          </p:cNvPicPr>
          <p:nvPr/>
        </p:nvPicPr>
        <p:blipFill>
          <a:blip r:embed="rId1"/>
          <a:stretch>
            <a:fillRect/>
          </a:stretch>
        </p:blipFill>
        <p:spPr>
          <a:xfrm>
            <a:off x="7040880" y="1645920"/>
            <a:ext cx="1097280" cy="1097280"/>
          </a:xfrm>
          <a:prstGeom prst="rect">
            <a:avLst/>
          </a:prstGeom>
        </p:spPr>
      </p:pic>
      <p:sp>
        <p:nvSpPr>
          <p:cNvPr id="7" name="Bread circle"/>
          <p:cNvSpPr/>
          <p:nvPr/>
        </p:nvSpPr>
        <p:spPr>
          <a:xfrm>
            <a:off x="5943600" y="3611880"/>
            <a:ext cx="1097280" cy="1097280"/>
          </a:xfrm>
          <a:prstGeom prst="ellipse">
            <a:avLst/>
          </a:prstGeom>
          <a:solidFill>
            <a:schemeClr val="accent2"/>
          </a:solidFill>
          <a:ln/>
        </p:spPr>
      </p:sp>
      <p:pic>
        <p:nvPicPr>
          <p:cNvPr id="8" name="Image 1" descr="Bread icon">    </p:cNvPr>
          <p:cNvPicPr>
            <a:picLocks noChangeAspect="1"/>
          </p:cNvPicPr>
          <p:nvPr/>
        </p:nvPicPr>
        <p:blipFill>
          <a:blip r:embed="rId2"/>
          <a:stretch>
            <a:fillRect/>
          </a:stretch>
        </p:blipFill>
        <p:spPr>
          <a:xfrm>
            <a:off x="6309360" y="3977640"/>
            <a:ext cx="365760" cy="365760"/>
          </a:xfrm>
          <a:prstGeom prst="rect">
            <a:avLst/>
          </a:prstGeom>
        </p:spPr>
      </p:pic>
      <p:sp>
        <p:nvSpPr>
          <p:cNvPr id="9" name="Milk circle"/>
          <p:cNvSpPr/>
          <p:nvPr/>
        </p:nvSpPr>
        <p:spPr>
          <a:xfrm>
            <a:off x="7498080" y="3611880"/>
            <a:ext cx="1097280" cy="1097280"/>
          </a:xfrm>
          <a:prstGeom prst="ellipse">
            <a:avLst/>
          </a:prstGeom>
          <a:solidFill>
            <a:schemeClr val="accent4"/>
          </a:solidFill>
          <a:ln/>
        </p:spPr>
      </p:sp>
      <p:pic>
        <p:nvPicPr>
          <p:cNvPr id="10" name="Image 2" descr="Milk glass icon">    </p:cNvPr>
          <p:cNvPicPr>
            <a:picLocks noChangeAspect="1"/>
          </p:cNvPicPr>
          <p:nvPr/>
        </p:nvPicPr>
        <p:blipFill>
          <a:blip r:embed="rId3"/>
          <a:stretch>
            <a:fillRect/>
          </a:stretch>
        </p:blipFill>
        <p:spPr>
          <a:xfrm>
            <a:off x="7863840" y="3977640"/>
            <a:ext cx="365760" cy="3657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rPr>
              <a:t>The Problem: Hidden Buying Patterns</a:t>
            </a:r>
            <a:endParaRPr lang="en-US" sz="3200" dirty="0"/>
          </a:p>
        </p:txBody>
      </p:sp>
      <p:sp>
        <p:nvSpPr>
          <p:cNvPr id="3" name="Text 1"/>
          <p:cNvSpPr txBox="1"/>
          <p:nvPr/>
        </p:nvSpPr>
        <p:spPr>
          <a:xfrm>
            <a:off x="457200" y="1097280"/>
            <a:ext cx="8229600" cy="548640"/>
          </a:xfrm>
          <a:prstGeom prst="rect">
            <a:avLst/>
          </a:prstGeom>
          <a:noFill/>
          <a:ln/>
        </p:spPr>
        <p:txBody>
          <a:bodyPr wrap="square" lIns="0" tIns="0" rIns="0" bIns="0" rtlCol="0" anchor="t"/>
          <a:lstStyle/>
          <a:p>
            <a:pPr indent="0" marL="0">
              <a:buNone/>
            </a:pPr>
            <a:r>
              <a:rPr lang="en-US" sz="1600" dirty="0">
                <a:solidFill>
                  <a:schemeClr val="tx1"/>
                </a:solidFill>
              </a:rPr>
              <a:t>Supermarkets generate thousands of bills daily. Our goal: find which products customers buy together and turn it into sales.</a:t>
            </a:r>
            <a:endParaRPr lang="en-US" sz="1600" dirty="0"/>
          </a:p>
        </p:txBody>
      </p:sp>
      <p:sp>
        <p:nvSpPr>
          <p:cNvPr id="4" name="Problem card 1"/>
          <p:cNvSpPr/>
          <p:nvPr/>
        </p:nvSpPr>
        <p:spPr>
          <a:xfrm>
            <a:off x="457200" y="1828800"/>
            <a:ext cx="3931920" cy="1188720"/>
          </a:xfrm>
          <a:prstGeom prst="roundRect">
            <a:avLst>
              <a:gd name="adj" fmla="val 7692"/>
            </a:avLst>
          </a:prstGeom>
          <a:solidFill>
            <a:schemeClr val="bg2"/>
          </a:solidFill>
          <a:ln/>
        </p:spPr>
      </p:sp>
      <p:sp>
        <p:nvSpPr>
          <p:cNvPr id="5" name="Problem icon circle 1"/>
          <p:cNvSpPr/>
          <p:nvPr/>
        </p:nvSpPr>
        <p:spPr>
          <a:xfrm>
            <a:off x="685800" y="2148840"/>
            <a:ext cx="548640" cy="548640"/>
          </a:xfrm>
          <a:prstGeom prst="ellipse">
            <a:avLst/>
          </a:prstGeom>
          <a:solidFill>
            <a:schemeClr val="accent1"/>
          </a:solidFill>
          <a:ln/>
        </p:spPr>
      </p:sp>
      <p:pic>
        <p:nvPicPr>
          <p:cNvPr id="6" name="Image 0" descr="Lack of customer insight icon">    </p:cNvPr>
          <p:cNvPicPr>
            <a:picLocks noChangeAspect="1"/>
          </p:cNvPicPr>
          <p:nvPr/>
        </p:nvPicPr>
        <p:blipFill>
          <a:blip r:embed="rId1"/>
          <a:stretch>
            <a:fillRect/>
          </a:stretch>
        </p:blipFill>
        <p:spPr>
          <a:xfrm>
            <a:off x="822960" y="2286000"/>
            <a:ext cx="274320" cy="274320"/>
          </a:xfrm>
          <a:prstGeom prst="rect">
            <a:avLst/>
          </a:prstGeom>
        </p:spPr>
      </p:pic>
      <p:sp>
        <p:nvSpPr>
          <p:cNvPr id="7" name="Text 4"/>
          <p:cNvSpPr txBox="1"/>
          <p:nvPr/>
        </p:nvSpPr>
        <p:spPr>
          <a:xfrm>
            <a:off x="1417320" y="1920240"/>
            <a:ext cx="2834640" cy="1005840"/>
          </a:xfrm>
          <a:prstGeom prst="rect">
            <a:avLst/>
          </a:prstGeom>
          <a:noFill/>
          <a:ln/>
        </p:spPr>
        <p:txBody>
          <a:bodyPr wrap="square" lIns="0" tIns="0" rIns="0" bIns="0" rtlCol="0" anchor="ctr"/>
          <a:lstStyle/>
          <a:p>
            <a:pPr indent="0" marL="0">
              <a:buNone/>
            </a:pPr>
            <a:r>
              <a:rPr lang="en-US" sz="1600" b="1" dirty="0">
                <a:solidFill>
                  <a:schemeClr val="tx2"/>
                </a:solidFill>
              </a:rPr>
              <a:t>Lack of customer insight</a:t>
            </a:r>
            <a:endParaRPr lang="en-US" sz="1600" dirty="0"/>
          </a:p>
          <a:p>
            <a:pPr indent="0" marL="0">
              <a:buNone/>
            </a:pPr>
            <a:r>
              <a:rPr lang="en-US" sz="1400" dirty="0">
                <a:solidFill>
                  <a:schemeClr val="tx1"/>
                </a:solidFill>
              </a:rPr>
              <a:t>Hidden relationships between products stay unseen.</a:t>
            </a:r>
            <a:endParaRPr lang="en-US" sz="1600" dirty="0"/>
          </a:p>
        </p:txBody>
      </p:sp>
      <p:sp>
        <p:nvSpPr>
          <p:cNvPr id="8" name="Problem card 2"/>
          <p:cNvSpPr/>
          <p:nvPr/>
        </p:nvSpPr>
        <p:spPr>
          <a:xfrm>
            <a:off x="4754880" y="1828800"/>
            <a:ext cx="3931920" cy="1188720"/>
          </a:xfrm>
          <a:prstGeom prst="roundRect">
            <a:avLst>
              <a:gd name="adj" fmla="val 7692"/>
            </a:avLst>
          </a:prstGeom>
          <a:solidFill>
            <a:schemeClr val="bg2"/>
          </a:solidFill>
          <a:ln/>
        </p:spPr>
      </p:sp>
      <p:sp>
        <p:nvSpPr>
          <p:cNvPr id="9" name="Problem icon circle 2"/>
          <p:cNvSpPr/>
          <p:nvPr/>
        </p:nvSpPr>
        <p:spPr>
          <a:xfrm>
            <a:off x="4983480" y="2148840"/>
            <a:ext cx="548640" cy="548640"/>
          </a:xfrm>
          <a:prstGeom prst="ellipse">
            <a:avLst/>
          </a:prstGeom>
          <a:solidFill>
            <a:schemeClr val="accent1"/>
          </a:solidFill>
          <a:ln/>
        </p:spPr>
      </p:sp>
      <p:pic>
        <p:nvPicPr>
          <p:cNvPr id="10" name="Image 1" descr="Inefficient store layout icon">    </p:cNvPr>
          <p:cNvPicPr>
            <a:picLocks noChangeAspect="1"/>
          </p:cNvPicPr>
          <p:nvPr/>
        </p:nvPicPr>
        <p:blipFill>
          <a:blip r:embed="rId2"/>
          <a:stretch>
            <a:fillRect/>
          </a:stretch>
        </p:blipFill>
        <p:spPr>
          <a:xfrm>
            <a:off x="5120640" y="2286000"/>
            <a:ext cx="274320" cy="274320"/>
          </a:xfrm>
          <a:prstGeom prst="rect">
            <a:avLst/>
          </a:prstGeom>
        </p:spPr>
      </p:pic>
      <p:sp>
        <p:nvSpPr>
          <p:cNvPr id="11" name="Text 7"/>
          <p:cNvSpPr txBox="1"/>
          <p:nvPr/>
        </p:nvSpPr>
        <p:spPr>
          <a:xfrm>
            <a:off x="5715000" y="1920240"/>
            <a:ext cx="2834640" cy="1005840"/>
          </a:xfrm>
          <a:prstGeom prst="rect">
            <a:avLst/>
          </a:prstGeom>
          <a:noFill/>
          <a:ln/>
        </p:spPr>
        <p:txBody>
          <a:bodyPr wrap="square" lIns="0" tIns="0" rIns="0" bIns="0" rtlCol="0" anchor="ctr"/>
          <a:lstStyle/>
          <a:p>
            <a:pPr indent="0" marL="0">
              <a:buNone/>
            </a:pPr>
            <a:r>
              <a:rPr lang="en-US" sz="1600" b="1" dirty="0">
                <a:solidFill>
                  <a:schemeClr val="tx2"/>
                </a:solidFill>
              </a:rPr>
              <a:t>Inefficient store layout</a:t>
            </a:r>
            <a:endParaRPr lang="en-US" sz="1600" dirty="0"/>
          </a:p>
          <a:p>
            <a:pPr indent="0" marL="0">
              <a:buNone/>
            </a:pPr>
            <a:r>
              <a:rPr lang="en-US" sz="1400" dirty="0">
                <a:solidFill>
                  <a:schemeClr val="tx1"/>
                </a:solidFill>
              </a:rPr>
              <a:t>Random placement loses impulse purchases.</a:t>
            </a:r>
            <a:endParaRPr lang="en-US" sz="1600" dirty="0"/>
          </a:p>
        </p:txBody>
      </p:sp>
      <p:sp>
        <p:nvSpPr>
          <p:cNvPr id="12" name="Problem card 3"/>
          <p:cNvSpPr/>
          <p:nvPr/>
        </p:nvSpPr>
        <p:spPr>
          <a:xfrm>
            <a:off x="457200" y="3291840"/>
            <a:ext cx="3931920" cy="1188720"/>
          </a:xfrm>
          <a:prstGeom prst="roundRect">
            <a:avLst>
              <a:gd name="adj" fmla="val 7692"/>
            </a:avLst>
          </a:prstGeom>
          <a:solidFill>
            <a:schemeClr val="bg2"/>
          </a:solidFill>
          <a:ln/>
        </p:spPr>
      </p:sp>
      <p:sp>
        <p:nvSpPr>
          <p:cNvPr id="13" name="Problem icon circle 3"/>
          <p:cNvSpPr/>
          <p:nvPr/>
        </p:nvSpPr>
        <p:spPr>
          <a:xfrm>
            <a:off x="685800" y="3611880"/>
            <a:ext cx="548640" cy="548640"/>
          </a:xfrm>
          <a:prstGeom prst="ellipse">
            <a:avLst/>
          </a:prstGeom>
          <a:solidFill>
            <a:schemeClr val="accent1"/>
          </a:solidFill>
          <a:ln/>
        </p:spPr>
      </p:sp>
      <p:pic>
        <p:nvPicPr>
          <p:cNvPr id="14" name="Image 2" descr="Missed cross-selling icon">    </p:cNvPr>
          <p:cNvPicPr>
            <a:picLocks noChangeAspect="1"/>
          </p:cNvPicPr>
          <p:nvPr/>
        </p:nvPicPr>
        <p:blipFill>
          <a:blip r:embed="rId3"/>
          <a:stretch>
            <a:fillRect/>
          </a:stretch>
        </p:blipFill>
        <p:spPr>
          <a:xfrm>
            <a:off x="822960" y="3749040"/>
            <a:ext cx="274320" cy="274320"/>
          </a:xfrm>
          <a:prstGeom prst="rect">
            <a:avLst/>
          </a:prstGeom>
        </p:spPr>
      </p:pic>
      <p:sp>
        <p:nvSpPr>
          <p:cNvPr id="15" name="Text 10"/>
          <p:cNvSpPr txBox="1"/>
          <p:nvPr/>
        </p:nvSpPr>
        <p:spPr>
          <a:xfrm>
            <a:off x="1417320" y="3383280"/>
            <a:ext cx="2834640" cy="1005840"/>
          </a:xfrm>
          <a:prstGeom prst="rect">
            <a:avLst/>
          </a:prstGeom>
          <a:noFill/>
          <a:ln/>
        </p:spPr>
        <p:txBody>
          <a:bodyPr wrap="square" lIns="0" tIns="0" rIns="0" bIns="0" rtlCol="0" anchor="ctr"/>
          <a:lstStyle/>
          <a:p>
            <a:pPr indent="0" marL="0">
              <a:buNone/>
            </a:pPr>
            <a:r>
              <a:rPr lang="en-US" sz="1600" b="1" dirty="0">
                <a:solidFill>
                  <a:schemeClr val="tx2"/>
                </a:solidFill>
              </a:rPr>
              <a:t>Missed cross-selling</a:t>
            </a:r>
            <a:endParaRPr lang="en-US" sz="1600" dirty="0"/>
          </a:p>
          <a:p>
            <a:pPr indent="0" marL="0">
              <a:buNone/>
            </a:pPr>
            <a:r>
              <a:rPr lang="en-US" sz="1400" dirty="0">
                <a:solidFill>
                  <a:schemeClr val="tx1"/>
                </a:solidFill>
              </a:rPr>
              <a:t>No data-backed product recommendations.</a:t>
            </a:r>
            <a:endParaRPr lang="en-US" sz="1600" dirty="0"/>
          </a:p>
        </p:txBody>
      </p:sp>
      <p:sp>
        <p:nvSpPr>
          <p:cNvPr id="16" name="Problem card 4"/>
          <p:cNvSpPr/>
          <p:nvPr/>
        </p:nvSpPr>
        <p:spPr>
          <a:xfrm>
            <a:off x="4754880" y="3291840"/>
            <a:ext cx="3931920" cy="1188720"/>
          </a:xfrm>
          <a:prstGeom prst="roundRect">
            <a:avLst>
              <a:gd name="adj" fmla="val 7692"/>
            </a:avLst>
          </a:prstGeom>
          <a:solidFill>
            <a:schemeClr val="bg2"/>
          </a:solidFill>
          <a:ln/>
        </p:spPr>
      </p:sp>
      <p:sp>
        <p:nvSpPr>
          <p:cNvPr id="17" name="Problem icon circle 4"/>
          <p:cNvSpPr/>
          <p:nvPr/>
        </p:nvSpPr>
        <p:spPr>
          <a:xfrm>
            <a:off x="4983480" y="3611880"/>
            <a:ext cx="548640" cy="548640"/>
          </a:xfrm>
          <a:prstGeom prst="ellipse">
            <a:avLst/>
          </a:prstGeom>
          <a:solidFill>
            <a:schemeClr val="accent1"/>
          </a:solidFill>
          <a:ln/>
        </p:spPr>
      </p:sp>
      <p:pic>
        <p:nvPicPr>
          <p:cNvPr id="18" name="Image 3" descr="Weak promotions icon">    </p:cNvPr>
          <p:cNvPicPr>
            <a:picLocks noChangeAspect="1"/>
          </p:cNvPicPr>
          <p:nvPr/>
        </p:nvPicPr>
        <p:blipFill>
          <a:blip r:embed="rId4"/>
          <a:stretch>
            <a:fillRect/>
          </a:stretch>
        </p:blipFill>
        <p:spPr>
          <a:xfrm>
            <a:off x="5120640" y="3749040"/>
            <a:ext cx="274320" cy="274320"/>
          </a:xfrm>
          <a:prstGeom prst="rect">
            <a:avLst/>
          </a:prstGeom>
        </p:spPr>
      </p:pic>
      <p:sp>
        <p:nvSpPr>
          <p:cNvPr id="19" name="Text 13"/>
          <p:cNvSpPr txBox="1"/>
          <p:nvPr/>
        </p:nvSpPr>
        <p:spPr>
          <a:xfrm>
            <a:off x="5715000" y="3383280"/>
            <a:ext cx="2834640" cy="1005840"/>
          </a:xfrm>
          <a:prstGeom prst="rect">
            <a:avLst/>
          </a:prstGeom>
          <a:noFill/>
          <a:ln/>
        </p:spPr>
        <p:txBody>
          <a:bodyPr wrap="square" lIns="0" tIns="0" rIns="0" bIns="0" rtlCol="0" anchor="ctr"/>
          <a:lstStyle/>
          <a:p>
            <a:pPr indent="0" marL="0">
              <a:buNone/>
            </a:pPr>
            <a:r>
              <a:rPr lang="en-US" sz="1600" b="1" dirty="0">
                <a:solidFill>
                  <a:schemeClr val="tx2"/>
                </a:solidFill>
              </a:rPr>
              <a:t>Weak promotions</a:t>
            </a:r>
            <a:endParaRPr lang="en-US" sz="1600" dirty="0"/>
          </a:p>
          <a:p>
            <a:pPr indent="0" marL="0">
              <a:buNone/>
            </a:pPr>
            <a:r>
              <a:rPr lang="en-US" sz="1400" dirty="0">
                <a:solidFill>
                  <a:schemeClr val="tx1"/>
                </a:solidFill>
              </a:rPr>
              <a:t>Combo offers and discounts lack evidence.</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rPr>
              <a:t>From Raw Bills to Rules</a:t>
            </a:r>
            <a:endParaRPr lang="en-US" sz="3200" dirty="0"/>
          </a:p>
        </p:txBody>
      </p:sp>
      <p:sp>
        <p:nvSpPr>
          <p:cNvPr id="3" name="Stat card 1"/>
          <p:cNvSpPr/>
          <p:nvPr/>
        </p:nvSpPr>
        <p:spPr>
          <a:xfrm>
            <a:off x="457200" y="1188720"/>
            <a:ext cx="1828800" cy="1188720"/>
          </a:xfrm>
          <a:prstGeom prst="roundRect">
            <a:avLst>
              <a:gd name="adj" fmla="val 7692"/>
            </a:avLst>
          </a:prstGeom>
          <a:solidFill>
            <a:schemeClr val="tx2"/>
          </a:solidFill>
          <a:ln/>
        </p:spPr>
      </p:sp>
      <p:sp>
        <p:nvSpPr>
          <p:cNvPr id="4" name="Text 2"/>
          <p:cNvSpPr txBox="1"/>
          <p:nvPr/>
        </p:nvSpPr>
        <p:spPr>
          <a:xfrm>
            <a:off x="640080" y="1298448"/>
            <a:ext cx="1554480" cy="594360"/>
          </a:xfrm>
          <a:prstGeom prst="rect">
            <a:avLst/>
          </a:prstGeom>
          <a:noFill/>
          <a:ln/>
        </p:spPr>
        <p:txBody>
          <a:bodyPr wrap="square" lIns="0" tIns="0" rIns="0" bIns="0" rtlCol="0" anchor="ctr"/>
          <a:lstStyle/>
          <a:p>
            <a:pPr indent="0" marL="0">
              <a:buNone/>
            </a:pPr>
            <a:r>
              <a:rPr lang="en-US" sz="3400" b="1" dirty="0">
                <a:solidFill>
                  <a:schemeClr val="bg1"/>
                </a:solidFill>
                <a:latin typeface="Cambria" pitchFamily="34" charset="0"/>
                <a:ea typeface="Cambria" pitchFamily="34" charset="-122"/>
                <a:cs typeface="Cambria" pitchFamily="34" charset="-120"/>
              </a:rPr>
              <a:t>39,000</a:t>
            </a:r>
            <a:endParaRPr lang="en-US" sz="3400" dirty="0"/>
          </a:p>
        </p:txBody>
      </p:sp>
      <p:sp>
        <p:nvSpPr>
          <p:cNvPr id="5" name="Text 3"/>
          <p:cNvSpPr txBox="1"/>
          <p:nvPr/>
        </p:nvSpPr>
        <p:spPr>
          <a:xfrm>
            <a:off x="640080" y="1901952"/>
            <a:ext cx="1554480" cy="320040"/>
          </a:xfrm>
          <a:prstGeom prst="rect">
            <a:avLst/>
          </a:prstGeom>
          <a:noFill/>
          <a:ln/>
        </p:spPr>
        <p:txBody>
          <a:bodyPr wrap="square" lIns="0" tIns="0" rIns="0" bIns="0" rtlCol="0" anchor="ctr"/>
          <a:lstStyle/>
          <a:p>
            <a:pPr indent="0" marL="0">
              <a:buNone/>
            </a:pPr>
            <a:r>
              <a:rPr lang="en-US" sz="1400" dirty="0">
                <a:solidFill>
                  <a:schemeClr val="accent4"/>
                </a:solidFill>
              </a:rPr>
              <a:t>bills analysed</a:t>
            </a:r>
            <a:endParaRPr lang="en-US" sz="1400" dirty="0"/>
          </a:p>
        </p:txBody>
      </p:sp>
      <p:sp>
        <p:nvSpPr>
          <p:cNvPr id="6" name="Stat card 2"/>
          <p:cNvSpPr/>
          <p:nvPr/>
        </p:nvSpPr>
        <p:spPr>
          <a:xfrm>
            <a:off x="2590495" y="1188720"/>
            <a:ext cx="1828800" cy="1188720"/>
          </a:xfrm>
          <a:prstGeom prst="roundRect">
            <a:avLst>
              <a:gd name="adj" fmla="val 7692"/>
            </a:avLst>
          </a:prstGeom>
          <a:solidFill>
            <a:schemeClr val="tx2"/>
          </a:solidFill>
          <a:ln/>
        </p:spPr>
      </p:sp>
      <p:sp>
        <p:nvSpPr>
          <p:cNvPr id="7" name="Text 5"/>
          <p:cNvSpPr txBox="1"/>
          <p:nvPr/>
        </p:nvSpPr>
        <p:spPr>
          <a:xfrm>
            <a:off x="2773375" y="1298448"/>
            <a:ext cx="1554480" cy="594360"/>
          </a:xfrm>
          <a:prstGeom prst="rect">
            <a:avLst/>
          </a:prstGeom>
          <a:noFill/>
          <a:ln/>
        </p:spPr>
        <p:txBody>
          <a:bodyPr wrap="square" lIns="0" tIns="0" rIns="0" bIns="0" rtlCol="0" anchor="ctr"/>
          <a:lstStyle/>
          <a:p>
            <a:pPr indent="0" marL="0">
              <a:buNone/>
            </a:pPr>
            <a:r>
              <a:rPr lang="en-US" sz="3400" b="1" dirty="0">
                <a:solidFill>
                  <a:schemeClr val="bg1"/>
                </a:solidFill>
                <a:latin typeface="Cambria" pitchFamily="34" charset="0"/>
                <a:ea typeface="Cambria" pitchFamily="34" charset="-122"/>
                <a:cs typeface="Cambria" pitchFamily="34" charset="-120"/>
              </a:rPr>
              <a:t>51</a:t>
            </a:r>
            <a:endParaRPr lang="en-US" sz="3400" dirty="0"/>
          </a:p>
        </p:txBody>
      </p:sp>
      <p:sp>
        <p:nvSpPr>
          <p:cNvPr id="8" name="Text 6"/>
          <p:cNvSpPr txBox="1"/>
          <p:nvPr/>
        </p:nvSpPr>
        <p:spPr>
          <a:xfrm>
            <a:off x="2773375" y="1901952"/>
            <a:ext cx="1554480" cy="320040"/>
          </a:xfrm>
          <a:prstGeom prst="rect">
            <a:avLst/>
          </a:prstGeom>
          <a:noFill/>
          <a:ln/>
        </p:spPr>
        <p:txBody>
          <a:bodyPr wrap="square" lIns="0" tIns="0" rIns="0" bIns="0" rtlCol="0" anchor="ctr"/>
          <a:lstStyle/>
          <a:p>
            <a:pPr indent="0" marL="0">
              <a:buNone/>
            </a:pPr>
            <a:r>
              <a:rPr lang="en-US" sz="1400" dirty="0">
                <a:solidFill>
                  <a:schemeClr val="accent4"/>
                </a:solidFill>
              </a:rPr>
              <a:t>unique products</a:t>
            </a:r>
            <a:endParaRPr lang="en-US" sz="1400" dirty="0"/>
          </a:p>
        </p:txBody>
      </p:sp>
      <p:sp>
        <p:nvSpPr>
          <p:cNvPr id="9" name="Stat card 3"/>
          <p:cNvSpPr/>
          <p:nvPr/>
        </p:nvSpPr>
        <p:spPr>
          <a:xfrm>
            <a:off x="4723790" y="1188720"/>
            <a:ext cx="1828800" cy="1188720"/>
          </a:xfrm>
          <a:prstGeom prst="roundRect">
            <a:avLst>
              <a:gd name="adj" fmla="val 7692"/>
            </a:avLst>
          </a:prstGeom>
          <a:solidFill>
            <a:schemeClr val="tx2"/>
          </a:solidFill>
          <a:ln/>
        </p:spPr>
      </p:sp>
      <p:sp>
        <p:nvSpPr>
          <p:cNvPr id="10" name="Text 8"/>
          <p:cNvSpPr txBox="1"/>
          <p:nvPr/>
        </p:nvSpPr>
        <p:spPr>
          <a:xfrm>
            <a:off x="4906670" y="1298448"/>
            <a:ext cx="1554480" cy="594360"/>
          </a:xfrm>
          <a:prstGeom prst="rect">
            <a:avLst/>
          </a:prstGeom>
          <a:noFill/>
          <a:ln/>
        </p:spPr>
        <p:txBody>
          <a:bodyPr wrap="square" lIns="0" tIns="0" rIns="0" bIns="0" rtlCol="0" anchor="ctr"/>
          <a:lstStyle/>
          <a:p>
            <a:pPr indent="0" marL="0">
              <a:buNone/>
            </a:pPr>
            <a:r>
              <a:rPr lang="en-US" sz="3400" b="1" dirty="0">
                <a:solidFill>
                  <a:schemeClr val="bg1"/>
                </a:solidFill>
                <a:latin typeface="Cambria" pitchFamily="34" charset="0"/>
                <a:ea typeface="Cambria" pitchFamily="34" charset="-122"/>
                <a:cs typeface="Cambria" pitchFamily="34" charset="-120"/>
              </a:rPr>
              <a:t>142</a:t>
            </a:r>
            <a:endParaRPr lang="en-US" sz="3400" dirty="0"/>
          </a:p>
        </p:txBody>
      </p:sp>
      <p:sp>
        <p:nvSpPr>
          <p:cNvPr id="11" name="Text 9"/>
          <p:cNvSpPr txBox="1"/>
          <p:nvPr/>
        </p:nvSpPr>
        <p:spPr>
          <a:xfrm>
            <a:off x="4906670" y="1901952"/>
            <a:ext cx="1554480" cy="320040"/>
          </a:xfrm>
          <a:prstGeom prst="rect">
            <a:avLst/>
          </a:prstGeom>
          <a:noFill/>
          <a:ln/>
        </p:spPr>
        <p:txBody>
          <a:bodyPr wrap="square" lIns="0" tIns="0" rIns="0" bIns="0" rtlCol="0" anchor="ctr"/>
          <a:lstStyle/>
          <a:p>
            <a:pPr indent="0" marL="0">
              <a:buNone/>
            </a:pPr>
            <a:r>
              <a:rPr lang="en-US" sz="1400" dirty="0">
                <a:solidFill>
                  <a:schemeClr val="accent4"/>
                </a:solidFill>
              </a:rPr>
              <a:t>frequent itemsets</a:t>
            </a:r>
            <a:endParaRPr lang="en-US" sz="1400" dirty="0"/>
          </a:p>
        </p:txBody>
      </p:sp>
      <p:sp>
        <p:nvSpPr>
          <p:cNvPr id="12" name="Stat card 4"/>
          <p:cNvSpPr/>
          <p:nvPr/>
        </p:nvSpPr>
        <p:spPr>
          <a:xfrm>
            <a:off x="6857086" y="1188720"/>
            <a:ext cx="1828800" cy="1188720"/>
          </a:xfrm>
          <a:prstGeom prst="roundRect">
            <a:avLst>
              <a:gd name="adj" fmla="val 7692"/>
            </a:avLst>
          </a:prstGeom>
          <a:solidFill>
            <a:schemeClr val="tx2"/>
          </a:solidFill>
          <a:ln/>
        </p:spPr>
      </p:sp>
      <p:sp>
        <p:nvSpPr>
          <p:cNvPr id="13" name="Text 11"/>
          <p:cNvSpPr txBox="1"/>
          <p:nvPr/>
        </p:nvSpPr>
        <p:spPr>
          <a:xfrm>
            <a:off x="7039966" y="1298448"/>
            <a:ext cx="1554480" cy="594360"/>
          </a:xfrm>
          <a:prstGeom prst="rect">
            <a:avLst/>
          </a:prstGeom>
          <a:noFill/>
          <a:ln/>
        </p:spPr>
        <p:txBody>
          <a:bodyPr wrap="square" lIns="0" tIns="0" rIns="0" bIns="0" rtlCol="0" anchor="ctr"/>
          <a:lstStyle/>
          <a:p>
            <a:pPr indent="0" marL="0">
              <a:buNone/>
            </a:pPr>
            <a:r>
              <a:rPr lang="en-US" sz="3400" b="1" dirty="0">
                <a:solidFill>
                  <a:schemeClr val="bg1"/>
                </a:solidFill>
                <a:latin typeface="Cambria" pitchFamily="34" charset="0"/>
                <a:ea typeface="Cambria" pitchFamily="34" charset="-122"/>
                <a:cs typeface="Cambria" pitchFamily="34" charset="-120"/>
              </a:rPr>
              <a:t>703</a:t>
            </a:r>
            <a:endParaRPr lang="en-US" sz="3400" dirty="0"/>
          </a:p>
        </p:txBody>
      </p:sp>
      <p:sp>
        <p:nvSpPr>
          <p:cNvPr id="14" name="Text 12"/>
          <p:cNvSpPr txBox="1"/>
          <p:nvPr/>
        </p:nvSpPr>
        <p:spPr>
          <a:xfrm>
            <a:off x="7039966" y="1901952"/>
            <a:ext cx="1554480" cy="320040"/>
          </a:xfrm>
          <a:prstGeom prst="rect">
            <a:avLst/>
          </a:prstGeom>
          <a:noFill/>
          <a:ln/>
        </p:spPr>
        <p:txBody>
          <a:bodyPr wrap="square" lIns="0" tIns="0" rIns="0" bIns="0" rtlCol="0" anchor="ctr"/>
          <a:lstStyle/>
          <a:p>
            <a:pPr indent="0" marL="0">
              <a:buNone/>
            </a:pPr>
            <a:r>
              <a:rPr lang="en-US" sz="1400" dirty="0">
                <a:solidFill>
                  <a:schemeClr val="accent4"/>
                </a:solidFill>
              </a:rPr>
              <a:t>association rules</a:t>
            </a:r>
            <a:endParaRPr lang="en-US" sz="1400" dirty="0"/>
          </a:p>
        </p:txBody>
      </p:sp>
      <p:sp>
        <p:nvSpPr>
          <p:cNvPr id="15" name="Step circle 1"/>
          <p:cNvSpPr/>
          <p:nvPr/>
        </p:nvSpPr>
        <p:spPr>
          <a:xfrm>
            <a:off x="1028700" y="2788920"/>
            <a:ext cx="502920" cy="502920"/>
          </a:xfrm>
          <a:prstGeom prst="ellipse">
            <a:avLst/>
          </a:prstGeom>
          <a:solidFill>
            <a:schemeClr val="accent1"/>
          </a:solidFill>
          <a:ln/>
        </p:spPr>
      </p:sp>
      <p:sp>
        <p:nvSpPr>
          <p:cNvPr id="16" name="Text 14"/>
          <p:cNvSpPr txBox="1"/>
          <p:nvPr/>
        </p:nvSpPr>
        <p:spPr>
          <a:xfrm>
            <a:off x="1028700" y="2788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7" name="Step connector 1"/>
          <p:cNvSpPr/>
          <p:nvPr/>
        </p:nvSpPr>
        <p:spPr>
          <a:xfrm>
            <a:off x="1600200" y="3040380"/>
            <a:ext cx="1005840" cy="0"/>
          </a:xfrm>
          <a:prstGeom prst="line">
            <a:avLst/>
          </a:prstGeom>
          <a:noFill/>
          <a:ln w="25400">
            <a:solidFill>
              <a:schemeClr val="accent3"/>
            </a:solidFill>
            <a:prstDash val="solid"/>
          </a:ln>
        </p:spPr>
      </p:sp>
      <p:sp>
        <p:nvSpPr>
          <p:cNvPr id="18" name="Text 16"/>
          <p:cNvSpPr txBox="1"/>
          <p:nvPr/>
        </p:nvSpPr>
        <p:spPr>
          <a:xfrm>
            <a:off x="502920" y="3401568"/>
            <a:ext cx="1554480" cy="274320"/>
          </a:xfrm>
          <a:prstGeom prst="rect">
            <a:avLst/>
          </a:prstGeom>
          <a:noFill/>
          <a:ln/>
        </p:spPr>
        <p:txBody>
          <a:bodyPr wrap="square" lIns="0" tIns="0" rIns="0" bIns="0" rtlCol="0" anchor="ctr"/>
          <a:lstStyle/>
          <a:p>
            <a:pPr algn="ctr" indent="0" marL="0">
              <a:buNone/>
            </a:pPr>
            <a:r>
              <a:rPr lang="en-US" sz="1400" b="1" dirty="0">
                <a:solidFill>
                  <a:schemeClr val="tx2"/>
                </a:solidFill>
              </a:rPr>
              <a:t>Clean data</a:t>
            </a:r>
            <a:endParaRPr lang="en-US" sz="1400" dirty="0"/>
          </a:p>
        </p:txBody>
      </p:sp>
      <p:sp>
        <p:nvSpPr>
          <p:cNvPr id="19" name="Text 17"/>
          <p:cNvSpPr txBox="1"/>
          <p:nvPr/>
        </p:nvSpPr>
        <p:spPr>
          <a:xfrm>
            <a:off x="502920" y="3675888"/>
            <a:ext cx="1554480" cy="457200"/>
          </a:xfrm>
          <a:prstGeom prst="rect">
            <a:avLst/>
          </a:prstGeom>
          <a:noFill/>
          <a:ln/>
        </p:spPr>
        <p:txBody>
          <a:bodyPr wrap="square" lIns="0" tIns="0" rIns="0" bIns="0" rtlCol="0" anchor="t"/>
          <a:lstStyle/>
          <a:p>
            <a:pPr algn="ctr" indent="0" marL="0">
              <a:buNone/>
            </a:pPr>
            <a:r>
              <a:rPr lang="en-US" sz="1200" dirty="0">
                <a:solidFill>
                  <a:schemeClr val="accent6"/>
                </a:solidFill>
              </a:rPr>
              <a:t>No nulls or duplicates</a:t>
            </a:r>
            <a:endParaRPr lang="en-US" sz="1200" dirty="0"/>
          </a:p>
        </p:txBody>
      </p:sp>
      <p:sp>
        <p:nvSpPr>
          <p:cNvPr id="20" name="Step circle 2"/>
          <p:cNvSpPr/>
          <p:nvPr/>
        </p:nvSpPr>
        <p:spPr>
          <a:xfrm>
            <a:off x="2674620" y="2788920"/>
            <a:ext cx="502920" cy="502920"/>
          </a:xfrm>
          <a:prstGeom prst="ellipse">
            <a:avLst/>
          </a:prstGeom>
          <a:solidFill>
            <a:schemeClr val="accent1"/>
          </a:solidFill>
          <a:ln/>
        </p:spPr>
      </p:sp>
      <p:sp>
        <p:nvSpPr>
          <p:cNvPr id="21" name="Text 19"/>
          <p:cNvSpPr txBox="1"/>
          <p:nvPr/>
        </p:nvSpPr>
        <p:spPr>
          <a:xfrm>
            <a:off x="2674620" y="2788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2" name="Step connector 2"/>
          <p:cNvSpPr/>
          <p:nvPr/>
        </p:nvSpPr>
        <p:spPr>
          <a:xfrm>
            <a:off x="3246120" y="3040380"/>
            <a:ext cx="1005840" cy="0"/>
          </a:xfrm>
          <a:prstGeom prst="line">
            <a:avLst/>
          </a:prstGeom>
          <a:noFill/>
          <a:ln w="25400">
            <a:solidFill>
              <a:schemeClr val="accent3"/>
            </a:solidFill>
            <a:prstDash val="solid"/>
          </a:ln>
        </p:spPr>
      </p:sp>
      <p:sp>
        <p:nvSpPr>
          <p:cNvPr id="23" name="Text 21"/>
          <p:cNvSpPr txBox="1"/>
          <p:nvPr/>
        </p:nvSpPr>
        <p:spPr>
          <a:xfrm>
            <a:off x="2148840" y="3401568"/>
            <a:ext cx="1554480" cy="274320"/>
          </a:xfrm>
          <a:prstGeom prst="rect">
            <a:avLst/>
          </a:prstGeom>
          <a:noFill/>
          <a:ln/>
        </p:spPr>
        <p:txBody>
          <a:bodyPr wrap="square" lIns="0" tIns="0" rIns="0" bIns="0" rtlCol="0" anchor="ctr"/>
          <a:lstStyle/>
          <a:p>
            <a:pPr algn="ctr" indent="0" marL="0">
              <a:buNone/>
            </a:pPr>
            <a:r>
              <a:rPr lang="en-US" sz="1400" b="1" dirty="0">
                <a:solidFill>
                  <a:schemeClr val="tx2"/>
                </a:solidFill>
              </a:rPr>
              <a:t>Encode</a:t>
            </a:r>
            <a:endParaRPr lang="en-US" sz="1400" dirty="0"/>
          </a:p>
        </p:txBody>
      </p:sp>
      <p:sp>
        <p:nvSpPr>
          <p:cNvPr id="24" name="Text 22"/>
          <p:cNvSpPr txBox="1"/>
          <p:nvPr/>
        </p:nvSpPr>
        <p:spPr>
          <a:xfrm>
            <a:off x="2148840" y="3675888"/>
            <a:ext cx="1554480" cy="457200"/>
          </a:xfrm>
          <a:prstGeom prst="rect">
            <a:avLst/>
          </a:prstGeom>
          <a:noFill/>
          <a:ln/>
        </p:spPr>
        <p:txBody>
          <a:bodyPr wrap="square" lIns="0" tIns="0" rIns="0" bIns="0" rtlCol="0" anchor="t"/>
          <a:lstStyle/>
          <a:p>
            <a:pPr algn="ctr" indent="0" marL="0">
              <a:buNone/>
            </a:pPr>
            <a:r>
              <a:rPr lang="en-US" sz="1200" dirty="0">
                <a:solidFill>
                  <a:schemeClr val="accent6"/>
                </a:solidFill>
              </a:rPr>
              <a:t>39,000 × 51 matrix</a:t>
            </a:r>
            <a:endParaRPr lang="en-US" sz="1200" dirty="0"/>
          </a:p>
        </p:txBody>
      </p:sp>
      <p:sp>
        <p:nvSpPr>
          <p:cNvPr id="25" name="Step circle 3"/>
          <p:cNvSpPr/>
          <p:nvPr/>
        </p:nvSpPr>
        <p:spPr>
          <a:xfrm>
            <a:off x="4320540" y="2788920"/>
            <a:ext cx="502920" cy="502920"/>
          </a:xfrm>
          <a:prstGeom prst="ellipse">
            <a:avLst/>
          </a:prstGeom>
          <a:solidFill>
            <a:schemeClr val="accent1"/>
          </a:solidFill>
          <a:ln/>
        </p:spPr>
      </p:sp>
      <p:sp>
        <p:nvSpPr>
          <p:cNvPr id="26" name="Text 24"/>
          <p:cNvSpPr txBox="1"/>
          <p:nvPr/>
        </p:nvSpPr>
        <p:spPr>
          <a:xfrm>
            <a:off x="4320540" y="2788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7" name="Step connector 3"/>
          <p:cNvSpPr/>
          <p:nvPr/>
        </p:nvSpPr>
        <p:spPr>
          <a:xfrm>
            <a:off x="4892040" y="3040380"/>
            <a:ext cx="1005840" cy="0"/>
          </a:xfrm>
          <a:prstGeom prst="line">
            <a:avLst/>
          </a:prstGeom>
          <a:noFill/>
          <a:ln w="25400">
            <a:solidFill>
              <a:schemeClr val="accent3"/>
            </a:solidFill>
            <a:prstDash val="solid"/>
          </a:ln>
        </p:spPr>
      </p:sp>
      <p:sp>
        <p:nvSpPr>
          <p:cNvPr id="28" name="Text 26"/>
          <p:cNvSpPr txBox="1"/>
          <p:nvPr/>
        </p:nvSpPr>
        <p:spPr>
          <a:xfrm>
            <a:off x="3794760" y="3401568"/>
            <a:ext cx="1554480" cy="274320"/>
          </a:xfrm>
          <a:prstGeom prst="rect">
            <a:avLst/>
          </a:prstGeom>
          <a:noFill/>
          <a:ln/>
        </p:spPr>
        <p:txBody>
          <a:bodyPr wrap="square" lIns="0" tIns="0" rIns="0" bIns="0" rtlCol="0" anchor="ctr"/>
          <a:lstStyle/>
          <a:p>
            <a:pPr algn="ctr" indent="0" marL="0">
              <a:buNone/>
            </a:pPr>
            <a:r>
              <a:rPr lang="en-US" sz="1400" b="1" dirty="0">
                <a:solidFill>
                  <a:schemeClr val="tx2"/>
                </a:solidFill>
              </a:rPr>
              <a:t>Run Apriori</a:t>
            </a:r>
            <a:endParaRPr lang="en-US" sz="1400" dirty="0"/>
          </a:p>
        </p:txBody>
      </p:sp>
      <p:sp>
        <p:nvSpPr>
          <p:cNvPr id="29" name="Text 27"/>
          <p:cNvSpPr txBox="1"/>
          <p:nvPr/>
        </p:nvSpPr>
        <p:spPr>
          <a:xfrm>
            <a:off x="3794760" y="3675888"/>
            <a:ext cx="1554480" cy="457200"/>
          </a:xfrm>
          <a:prstGeom prst="rect">
            <a:avLst/>
          </a:prstGeom>
          <a:noFill/>
          <a:ln/>
        </p:spPr>
        <p:txBody>
          <a:bodyPr wrap="square" lIns="0" tIns="0" rIns="0" bIns="0" rtlCol="0" anchor="t"/>
          <a:lstStyle/>
          <a:p>
            <a:pPr algn="ctr" indent="0" marL="0">
              <a:buNone/>
            </a:pPr>
            <a:r>
              <a:rPr lang="en-US" sz="1200" dirty="0">
                <a:solidFill>
                  <a:schemeClr val="accent6"/>
                </a:solidFill>
              </a:rPr>
              <a:t>Min support 2%</a:t>
            </a:r>
            <a:endParaRPr lang="en-US" sz="1200" dirty="0"/>
          </a:p>
        </p:txBody>
      </p:sp>
      <p:sp>
        <p:nvSpPr>
          <p:cNvPr id="30" name="Step circle 4"/>
          <p:cNvSpPr/>
          <p:nvPr/>
        </p:nvSpPr>
        <p:spPr>
          <a:xfrm>
            <a:off x="5966460" y="2788920"/>
            <a:ext cx="502920" cy="502920"/>
          </a:xfrm>
          <a:prstGeom prst="ellipse">
            <a:avLst/>
          </a:prstGeom>
          <a:solidFill>
            <a:schemeClr val="accent1"/>
          </a:solidFill>
          <a:ln/>
        </p:spPr>
      </p:sp>
      <p:sp>
        <p:nvSpPr>
          <p:cNvPr id="31" name="Text 29"/>
          <p:cNvSpPr txBox="1"/>
          <p:nvPr/>
        </p:nvSpPr>
        <p:spPr>
          <a:xfrm>
            <a:off x="5966460" y="2788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32" name="Step connector 4"/>
          <p:cNvSpPr/>
          <p:nvPr/>
        </p:nvSpPr>
        <p:spPr>
          <a:xfrm>
            <a:off x="6537960" y="3040380"/>
            <a:ext cx="1005840" cy="0"/>
          </a:xfrm>
          <a:prstGeom prst="line">
            <a:avLst/>
          </a:prstGeom>
          <a:noFill/>
          <a:ln w="25400">
            <a:solidFill>
              <a:schemeClr val="accent3"/>
            </a:solidFill>
            <a:prstDash val="solid"/>
          </a:ln>
        </p:spPr>
      </p:sp>
      <p:sp>
        <p:nvSpPr>
          <p:cNvPr id="33" name="Text 31"/>
          <p:cNvSpPr txBox="1"/>
          <p:nvPr/>
        </p:nvSpPr>
        <p:spPr>
          <a:xfrm>
            <a:off x="5440680" y="3401568"/>
            <a:ext cx="1554480" cy="274320"/>
          </a:xfrm>
          <a:prstGeom prst="rect">
            <a:avLst/>
          </a:prstGeom>
          <a:noFill/>
          <a:ln/>
        </p:spPr>
        <p:txBody>
          <a:bodyPr wrap="square" lIns="0" tIns="0" rIns="0" bIns="0" rtlCol="0" anchor="ctr"/>
          <a:lstStyle/>
          <a:p>
            <a:pPr algn="ctr" indent="0" marL="0">
              <a:buNone/>
            </a:pPr>
            <a:r>
              <a:rPr lang="en-US" sz="1400" b="1" dirty="0">
                <a:solidFill>
                  <a:schemeClr val="tx2"/>
                </a:solidFill>
              </a:rPr>
              <a:t>Build rules</a:t>
            </a:r>
            <a:endParaRPr lang="en-US" sz="1400" dirty="0"/>
          </a:p>
        </p:txBody>
      </p:sp>
      <p:sp>
        <p:nvSpPr>
          <p:cNvPr id="34" name="Text 32"/>
          <p:cNvSpPr txBox="1"/>
          <p:nvPr/>
        </p:nvSpPr>
        <p:spPr>
          <a:xfrm>
            <a:off x="5440680" y="3675888"/>
            <a:ext cx="1554480" cy="457200"/>
          </a:xfrm>
          <a:prstGeom prst="rect">
            <a:avLst/>
          </a:prstGeom>
          <a:noFill/>
          <a:ln/>
        </p:spPr>
        <p:txBody>
          <a:bodyPr wrap="square" lIns="0" tIns="0" rIns="0" bIns="0" rtlCol="0" anchor="t"/>
          <a:lstStyle/>
          <a:p>
            <a:pPr algn="ctr" indent="0" marL="0">
              <a:buNone/>
            </a:pPr>
            <a:r>
              <a:rPr lang="en-US" sz="1200" dirty="0">
                <a:solidFill>
                  <a:schemeClr val="accent6"/>
                </a:solidFill>
              </a:rPr>
              <a:t>Min confidence 30%</a:t>
            </a:r>
            <a:endParaRPr lang="en-US" sz="1200" dirty="0"/>
          </a:p>
        </p:txBody>
      </p:sp>
      <p:sp>
        <p:nvSpPr>
          <p:cNvPr id="35" name="Step circle 5"/>
          <p:cNvSpPr/>
          <p:nvPr/>
        </p:nvSpPr>
        <p:spPr>
          <a:xfrm>
            <a:off x="7612380" y="2788920"/>
            <a:ext cx="502920" cy="502920"/>
          </a:xfrm>
          <a:prstGeom prst="ellipse">
            <a:avLst/>
          </a:prstGeom>
          <a:solidFill>
            <a:schemeClr val="accent1"/>
          </a:solidFill>
          <a:ln/>
        </p:spPr>
      </p:sp>
      <p:sp>
        <p:nvSpPr>
          <p:cNvPr id="36" name="Text 34"/>
          <p:cNvSpPr txBox="1"/>
          <p:nvPr/>
        </p:nvSpPr>
        <p:spPr>
          <a:xfrm>
            <a:off x="7612380" y="27889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7" name="Text 35"/>
          <p:cNvSpPr txBox="1"/>
          <p:nvPr/>
        </p:nvSpPr>
        <p:spPr>
          <a:xfrm>
            <a:off x="7086600" y="3401568"/>
            <a:ext cx="1554480" cy="274320"/>
          </a:xfrm>
          <a:prstGeom prst="rect">
            <a:avLst/>
          </a:prstGeom>
          <a:noFill/>
          <a:ln/>
        </p:spPr>
        <p:txBody>
          <a:bodyPr wrap="square" lIns="0" tIns="0" rIns="0" bIns="0" rtlCol="0" anchor="ctr"/>
          <a:lstStyle/>
          <a:p>
            <a:pPr algn="ctr" indent="0" marL="0">
              <a:buNone/>
            </a:pPr>
            <a:r>
              <a:rPr lang="en-US" sz="1400" b="1" dirty="0">
                <a:solidFill>
                  <a:schemeClr val="tx2"/>
                </a:solidFill>
              </a:rPr>
              <a:t>Visualise</a:t>
            </a:r>
            <a:endParaRPr lang="en-US" sz="1400" dirty="0"/>
          </a:p>
        </p:txBody>
      </p:sp>
      <p:sp>
        <p:nvSpPr>
          <p:cNvPr id="38" name="Text 36"/>
          <p:cNvSpPr txBox="1"/>
          <p:nvPr/>
        </p:nvSpPr>
        <p:spPr>
          <a:xfrm>
            <a:off x="7086600" y="3675888"/>
            <a:ext cx="1554480" cy="457200"/>
          </a:xfrm>
          <a:prstGeom prst="rect">
            <a:avLst/>
          </a:prstGeom>
          <a:noFill/>
          <a:ln/>
        </p:spPr>
        <p:txBody>
          <a:bodyPr wrap="square" lIns="0" tIns="0" rIns="0" bIns="0" rtlCol="0" anchor="t"/>
          <a:lstStyle/>
          <a:p>
            <a:pPr algn="ctr" indent="0" marL="0">
              <a:buNone/>
            </a:pPr>
            <a:r>
              <a:rPr lang="en-US" sz="1200" dirty="0">
                <a:solidFill>
                  <a:schemeClr val="accent6"/>
                </a:solidFill>
              </a:rPr>
              <a:t>9 insight graphs</a:t>
            </a:r>
            <a:endParaRPr lang="en-US" sz="1200" dirty="0"/>
          </a:p>
        </p:txBody>
      </p:sp>
      <p:sp>
        <p:nvSpPr>
          <p:cNvPr id="39" name="Text 37"/>
          <p:cNvSpPr txBox="1"/>
          <p:nvPr/>
        </p:nvSpPr>
        <p:spPr>
          <a:xfrm>
            <a:off x="457200" y="4279392"/>
            <a:ext cx="8229600" cy="320040"/>
          </a:xfrm>
          <a:prstGeom prst="rect">
            <a:avLst/>
          </a:prstGeom>
          <a:noFill/>
          <a:ln/>
        </p:spPr>
        <p:txBody>
          <a:bodyPr wrap="square" lIns="0" tIns="0" rIns="0" bIns="0" rtlCol="0" anchor="ctr"/>
          <a:lstStyle/>
          <a:p>
            <a:pPr indent="0" marL="0">
              <a:buNone/>
            </a:pPr>
            <a:r>
              <a:rPr lang="en-US" sz="1400" b="1" dirty="0">
                <a:solidFill>
                  <a:schemeClr val="tx2"/>
                </a:solidFill>
              </a:rPr>
              <a:t>Tools: </a:t>
            </a:r>
            <a:pPr indent="0" marL="0">
              <a:buNone/>
            </a:pPr>
            <a:r>
              <a:rPr lang="en-US" sz="1400" dirty="0">
                <a:solidFill>
                  <a:schemeClr val="tx1"/>
                </a:solidFill>
              </a:rPr>
              <a:t>Python  ·  Pandas  ·  Mlxtend  ·  VS Code  ·  GitHub</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200" b="1" dirty="0">
                <a:solidFill>
                  <a:schemeClr val="tx2"/>
                </a:solidFill>
              </a:rPr>
              <a:t>What the Data Revealed</a:t>
            </a:r>
            <a:endParaRPr lang="en-US" sz="3200" dirty="0"/>
          </a:p>
        </p:txBody>
      </p:sp>
      <p:sp>
        <p:nvSpPr>
          <p:cNvPr id="3" name="Rule card 1"/>
          <p:cNvSpPr/>
          <p:nvPr/>
        </p:nvSpPr>
        <p:spPr>
          <a:xfrm>
            <a:off x="457200" y="1143000"/>
            <a:ext cx="4389120" cy="1051560"/>
          </a:xfrm>
          <a:prstGeom prst="roundRect">
            <a:avLst>
              <a:gd name="adj" fmla="val 8696"/>
            </a:avLst>
          </a:prstGeom>
          <a:solidFill>
            <a:schemeClr val="bg2"/>
          </a:solidFill>
          <a:ln/>
        </p:spPr>
      </p:sp>
      <p:sp>
        <p:nvSpPr>
          <p:cNvPr id="4" name="Text 2"/>
          <p:cNvSpPr txBox="1"/>
          <p:nvPr/>
        </p:nvSpPr>
        <p:spPr>
          <a:xfrm>
            <a:off x="640080" y="1143000"/>
            <a:ext cx="1371600" cy="105156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13.9×</a:t>
            </a:r>
            <a:endParaRPr lang="en-US" sz="3400" dirty="0"/>
          </a:p>
        </p:txBody>
      </p:sp>
      <p:sp>
        <p:nvSpPr>
          <p:cNvPr id="5" name="Text 3"/>
          <p:cNvSpPr txBox="1"/>
          <p:nvPr/>
        </p:nvSpPr>
        <p:spPr>
          <a:xfrm>
            <a:off x="2103120" y="1143000"/>
            <a:ext cx="2651760" cy="1051560"/>
          </a:xfrm>
          <a:prstGeom prst="rect">
            <a:avLst/>
          </a:prstGeom>
          <a:noFill/>
          <a:ln/>
        </p:spPr>
        <p:txBody>
          <a:bodyPr wrap="square" lIns="0" tIns="0" rIns="0" bIns="0" rtlCol="0" anchor="ctr"/>
          <a:lstStyle/>
          <a:p>
            <a:pPr indent="0" marL="0">
              <a:buNone/>
            </a:pPr>
            <a:r>
              <a:rPr lang="en-US" sz="1400" b="1" dirty="0">
                <a:solidFill>
                  <a:schemeClr val="tx2"/>
                </a:solidFill>
              </a:rPr>
              <a:t>{Butter, Bread} → Milk</a:t>
            </a:r>
            <a:endParaRPr lang="en-US" sz="1400" dirty="0"/>
          </a:p>
          <a:p>
            <a:pPr indent="0" marL="0">
              <a:buNone/>
            </a:pPr>
            <a:r>
              <a:rPr lang="en-US" sz="1400" dirty="0">
                <a:solidFill>
                  <a:schemeClr val="tx1"/>
                </a:solidFill>
              </a:rPr>
              <a:t>Customers are 13.9× more likely to add Milk</a:t>
            </a:r>
            <a:endParaRPr lang="en-US" sz="1400" dirty="0"/>
          </a:p>
        </p:txBody>
      </p:sp>
      <p:sp>
        <p:nvSpPr>
          <p:cNvPr id="6" name="Rule card 2"/>
          <p:cNvSpPr/>
          <p:nvPr/>
        </p:nvSpPr>
        <p:spPr>
          <a:xfrm>
            <a:off x="457200" y="2423160"/>
            <a:ext cx="4389120" cy="1051560"/>
          </a:xfrm>
          <a:prstGeom prst="roundRect">
            <a:avLst>
              <a:gd name="adj" fmla="val 8696"/>
            </a:avLst>
          </a:prstGeom>
          <a:solidFill>
            <a:schemeClr val="bg2"/>
          </a:solidFill>
          <a:ln/>
        </p:spPr>
      </p:sp>
      <p:sp>
        <p:nvSpPr>
          <p:cNvPr id="7" name="Text 5"/>
          <p:cNvSpPr txBox="1"/>
          <p:nvPr/>
        </p:nvSpPr>
        <p:spPr>
          <a:xfrm>
            <a:off x="640080" y="2423160"/>
            <a:ext cx="1371600" cy="105156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100%</a:t>
            </a:r>
            <a:endParaRPr lang="en-US" sz="3400" dirty="0"/>
          </a:p>
        </p:txBody>
      </p:sp>
      <p:sp>
        <p:nvSpPr>
          <p:cNvPr id="8" name="Text 6"/>
          <p:cNvSpPr txBox="1"/>
          <p:nvPr/>
        </p:nvSpPr>
        <p:spPr>
          <a:xfrm>
            <a:off x="2103120" y="2423160"/>
            <a:ext cx="2651760" cy="1051560"/>
          </a:xfrm>
          <a:prstGeom prst="rect">
            <a:avLst/>
          </a:prstGeom>
          <a:noFill/>
          <a:ln/>
        </p:spPr>
        <p:txBody>
          <a:bodyPr wrap="square" lIns="0" tIns="0" rIns="0" bIns="0" rtlCol="0" anchor="ctr"/>
          <a:lstStyle/>
          <a:p>
            <a:pPr indent="0" marL="0">
              <a:buNone/>
            </a:pPr>
            <a:r>
              <a:rPr lang="en-US" sz="1400" b="1" dirty="0">
                <a:solidFill>
                  <a:schemeClr val="tx2"/>
                </a:solidFill>
              </a:rPr>
              <a:t>{Jam, Bread} → Butter</a:t>
            </a:r>
            <a:endParaRPr lang="en-US" sz="1400" dirty="0"/>
          </a:p>
          <a:p>
            <a:pPr indent="0" marL="0">
              <a:buNone/>
            </a:pPr>
            <a:r>
              <a:rPr lang="en-US" sz="1400" dirty="0">
                <a:solidFill>
                  <a:schemeClr val="tx1"/>
                </a:solidFill>
              </a:rPr>
              <a:t>Butter is always bought with this pair</a:t>
            </a:r>
            <a:endParaRPr lang="en-US" sz="1400" dirty="0"/>
          </a:p>
        </p:txBody>
      </p:sp>
      <p:graphicFrame>
        <p:nvGraphicFramePr>
          <p:cNvPr id="9" name="Chart 0" descr=""/>
          <p:cNvGraphicFramePr/>
          <p:nvPr/>
        </p:nvGraphicFramePr>
        <p:xfrm>
          <a:off x="5120640" y="1143000"/>
          <a:ext cx="3566160" cy="2331720"/>
        </p:xfrm>
        <a:graphic xmlns:a="http://schemas.openxmlformats.org/drawingml/2006/main">
          <a:graphicData uri="http://schemas.openxmlformats.org/drawingml/2006/chart">
            <c:chart xmlns:c="http://schemas.openxmlformats.org/drawingml/2006/chart" r:id="rId1"/>
          </a:graphicData>
        </a:graphic>
      </p:graphicFrame>
      <p:sp>
        <p:nvSpPr>
          <p:cNvPr id="10" name="Insight band"/>
          <p:cNvSpPr/>
          <p:nvPr/>
        </p:nvSpPr>
        <p:spPr>
          <a:xfrm>
            <a:off x="457200" y="3749040"/>
            <a:ext cx="8229600" cy="685800"/>
          </a:xfrm>
          <a:prstGeom prst="roundRect">
            <a:avLst>
              <a:gd name="adj" fmla="val 13333"/>
            </a:avLst>
          </a:prstGeom>
          <a:solidFill>
            <a:schemeClr val="tx2"/>
          </a:solidFill>
          <a:ln/>
        </p:spPr>
      </p:sp>
      <p:sp>
        <p:nvSpPr>
          <p:cNvPr id="11" name="Text 8"/>
          <p:cNvSpPr txBox="1"/>
          <p:nvPr/>
        </p:nvSpPr>
        <p:spPr>
          <a:xfrm>
            <a:off x="685800" y="3749040"/>
            <a:ext cx="2514600" cy="685800"/>
          </a:xfrm>
          <a:prstGeom prst="rect">
            <a:avLst/>
          </a:prstGeom>
          <a:noFill/>
          <a:ln/>
        </p:spPr>
        <p:txBody>
          <a:bodyPr wrap="square" lIns="0" tIns="0" rIns="0" bIns="0" rtlCol="0" anchor="ctr"/>
          <a:lstStyle/>
          <a:p>
            <a:pPr indent="0" marL="0">
              <a:buNone/>
            </a:pPr>
            <a:r>
              <a:rPr lang="en-US" sz="1400" dirty="0">
                <a:solidFill>
                  <a:schemeClr val="bg1"/>
                </a:solidFill>
              </a:rPr>
              <a:t>Bread &amp; Milk drive the most bills</a:t>
            </a:r>
            <a:endParaRPr lang="en-US" sz="1400" dirty="0"/>
          </a:p>
        </p:txBody>
      </p:sp>
      <p:sp>
        <p:nvSpPr>
          <p:cNvPr id="12" name="Text 9"/>
          <p:cNvSpPr txBox="1"/>
          <p:nvPr/>
        </p:nvSpPr>
        <p:spPr>
          <a:xfrm>
            <a:off x="3383280" y="3749040"/>
            <a:ext cx="2514600" cy="685800"/>
          </a:xfrm>
          <a:prstGeom prst="rect">
            <a:avLst/>
          </a:prstGeom>
          <a:noFill/>
          <a:ln/>
        </p:spPr>
        <p:txBody>
          <a:bodyPr wrap="square" lIns="0" tIns="0" rIns="0" bIns="0" rtlCol="0" anchor="ctr"/>
          <a:lstStyle/>
          <a:p>
            <a:pPr indent="0" marL="0">
              <a:buNone/>
            </a:pPr>
            <a:r>
              <a:rPr lang="en-US" sz="1400" dirty="0">
                <a:solidFill>
                  <a:schemeClr val="bg1"/>
                </a:solidFill>
              </a:rPr>
              <a:t>89% of purchases are single-unit</a:t>
            </a:r>
            <a:endParaRPr lang="en-US" sz="1400" dirty="0"/>
          </a:p>
        </p:txBody>
      </p:sp>
      <p:sp>
        <p:nvSpPr>
          <p:cNvPr id="13" name="Text 10"/>
          <p:cNvSpPr txBox="1"/>
          <p:nvPr/>
        </p:nvSpPr>
        <p:spPr>
          <a:xfrm>
            <a:off x="6080760" y="3749040"/>
            <a:ext cx="2514600" cy="685800"/>
          </a:xfrm>
          <a:prstGeom prst="rect">
            <a:avLst/>
          </a:prstGeom>
          <a:noFill/>
          <a:ln/>
        </p:spPr>
        <p:txBody>
          <a:bodyPr wrap="square" lIns="0" tIns="0" rIns="0" bIns="0" rtlCol="0" anchor="ctr"/>
          <a:lstStyle/>
          <a:p>
            <a:pPr indent="0" marL="0">
              <a:buNone/>
            </a:pPr>
            <a:r>
              <a:rPr lang="en-US" sz="1400" dirty="0">
                <a:solidFill>
                  <a:schemeClr val="bg1"/>
                </a:solidFill>
              </a:rPr>
              <a:t>Sales peak in December–January</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F7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200" b="1" dirty="0">
                <a:solidFill>
                  <a:schemeClr val="bg1"/>
                </a:solidFill>
              </a:rPr>
              <a:t>Recommendations &amp; Impact</a:t>
            </a:r>
            <a:endParaRPr lang="en-US" sz="3200" dirty="0"/>
          </a:p>
        </p:txBody>
      </p:sp>
      <p:sp>
        <p:nvSpPr>
          <p:cNvPr id="3" name="Rec circle 1"/>
          <p:cNvSpPr/>
          <p:nvPr/>
        </p:nvSpPr>
        <p:spPr>
          <a:xfrm>
            <a:off x="457200" y="1280160"/>
            <a:ext cx="457200" cy="457200"/>
          </a:xfrm>
          <a:prstGeom prst="ellipse">
            <a:avLst/>
          </a:prstGeom>
          <a:solidFill>
            <a:schemeClr val="accent2"/>
          </a:solidFill>
          <a:ln/>
        </p:spPr>
      </p:sp>
      <p:sp>
        <p:nvSpPr>
          <p:cNvPr id="4" name="Text 2"/>
          <p:cNvSpPr txBox="1"/>
          <p:nvPr/>
        </p:nvSpPr>
        <p:spPr>
          <a:xfrm>
            <a:off x="457200" y="128016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5" name="Text 3"/>
          <p:cNvSpPr txBox="1"/>
          <p:nvPr/>
        </p:nvSpPr>
        <p:spPr>
          <a:xfrm>
            <a:off x="1143000" y="1188720"/>
            <a:ext cx="4023360" cy="640080"/>
          </a:xfrm>
          <a:prstGeom prst="rect">
            <a:avLst/>
          </a:prstGeom>
          <a:noFill/>
          <a:ln/>
        </p:spPr>
        <p:txBody>
          <a:bodyPr wrap="square" lIns="0" tIns="0" rIns="0" bIns="0" rtlCol="0" anchor="ctr"/>
          <a:lstStyle/>
          <a:p>
            <a:pPr indent="0" marL="0">
              <a:buNone/>
            </a:pPr>
            <a:r>
              <a:rPr lang="en-US" sz="1600" dirty="0">
                <a:solidFill>
                  <a:schemeClr val="bg1"/>
                </a:solidFill>
              </a:rPr>
              <a:t>Place Butter, Bread and Milk side by side</a:t>
            </a:r>
            <a:endParaRPr lang="en-US" sz="1600" dirty="0"/>
          </a:p>
        </p:txBody>
      </p:sp>
      <p:sp>
        <p:nvSpPr>
          <p:cNvPr id="6" name="Rec circle 2"/>
          <p:cNvSpPr/>
          <p:nvPr/>
        </p:nvSpPr>
        <p:spPr>
          <a:xfrm>
            <a:off x="457200" y="2057400"/>
            <a:ext cx="457200" cy="457200"/>
          </a:xfrm>
          <a:prstGeom prst="ellipse">
            <a:avLst/>
          </a:prstGeom>
          <a:solidFill>
            <a:schemeClr val="accent2"/>
          </a:solidFill>
          <a:ln/>
        </p:spPr>
      </p:sp>
      <p:sp>
        <p:nvSpPr>
          <p:cNvPr id="7" name="Text 5"/>
          <p:cNvSpPr txBox="1"/>
          <p:nvPr/>
        </p:nvSpPr>
        <p:spPr>
          <a:xfrm>
            <a:off x="457200" y="205740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8" name="Text 6"/>
          <p:cNvSpPr txBox="1"/>
          <p:nvPr/>
        </p:nvSpPr>
        <p:spPr>
          <a:xfrm>
            <a:off x="1143000" y="1965960"/>
            <a:ext cx="4023360" cy="640080"/>
          </a:xfrm>
          <a:prstGeom prst="rect">
            <a:avLst/>
          </a:prstGeom>
          <a:noFill/>
          <a:ln/>
        </p:spPr>
        <p:txBody>
          <a:bodyPr wrap="square" lIns="0" tIns="0" rIns="0" bIns="0" rtlCol="0" anchor="ctr"/>
          <a:lstStyle/>
          <a:p>
            <a:pPr indent="0" marL="0">
              <a:buNone/>
            </a:pPr>
            <a:r>
              <a:rPr lang="en-US" sz="1600" dirty="0">
                <a:solidFill>
                  <a:schemeClr val="bg1"/>
                </a:solidFill>
              </a:rPr>
              <a:t>Launch a Jam + Bread + Butter combo offer</a:t>
            </a:r>
            <a:endParaRPr lang="en-US" sz="1600" dirty="0"/>
          </a:p>
        </p:txBody>
      </p:sp>
      <p:sp>
        <p:nvSpPr>
          <p:cNvPr id="9" name="Rec circle 3"/>
          <p:cNvSpPr/>
          <p:nvPr/>
        </p:nvSpPr>
        <p:spPr>
          <a:xfrm>
            <a:off x="457200" y="2834640"/>
            <a:ext cx="457200" cy="457200"/>
          </a:xfrm>
          <a:prstGeom prst="ellipse">
            <a:avLst/>
          </a:prstGeom>
          <a:solidFill>
            <a:schemeClr val="accent2"/>
          </a:solidFill>
          <a:ln/>
        </p:spPr>
      </p:sp>
      <p:sp>
        <p:nvSpPr>
          <p:cNvPr id="10" name="Text 8"/>
          <p:cNvSpPr txBox="1"/>
          <p:nvPr/>
        </p:nvSpPr>
        <p:spPr>
          <a:xfrm>
            <a:off x="457200" y="283464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1" name="Text 9"/>
          <p:cNvSpPr txBox="1"/>
          <p:nvPr/>
        </p:nvSpPr>
        <p:spPr>
          <a:xfrm>
            <a:off x="1143000" y="2743200"/>
            <a:ext cx="4023360" cy="640080"/>
          </a:xfrm>
          <a:prstGeom prst="rect">
            <a:avLst/>
          </a:prstGeom>
          <a:noFill/>
          <a:ln/>
        </p:spPr>
        <p:txBody>
          <a:bodyPr wrap="square" lIns="0" tIns="0" rIns="0" bIns="0" rtlCol="0" anchor="ctr"/>
          <a:lstStyle/>
          <a:p>
            <a:pPr indent="0" marL="0">
              <a:buNone/>
            </a:pPr>
            <a:r>
              <a:rPr lang="en-US" sz="1600" dirty="0">
                <a:solidFill>
                  <a:schemeClr val="bg1"/>
                </a:solidFill>
              </a:rPr>
              <a:t>Cross-sell Milk when Bread + Butter are bought</a:t>
            </a:r>
            <a:endParaRPr lang="en-US" sz="1600" dirty="0"/>
          </a:p>
        </p:txBody>
      </p:sp>
      <p:sp>
        <p:nvSpPr>
          <p:cNvPr id="12" name="Rec circle 4"/>
          <p:cNvSpPr/>
          <p:nvPr/>
        </p:nvSpPr>
        <p:spPr>
          <a:xfrm>
            <a:off x="457200" y="3611880"/>
            <a:ext cx="457200" cy="457200"/>
          </a:xfrm>
          <a:prstGeom prst="ellipse">
            <a:avLst/>
          </a:prstGeom>
          <a:solidFill>
            <a:schemeClr val="accent2"/>
          </a:solidFill>
          <a:ln/>
        </p:spPr>
      </p:sp>
      <p:sp>
        <p:nvSpPr>
          <p:cNvPr id="13" name="Text 11"/>
          <p:cNvSpPr txBox="1"/>
          <p:nvPr/>
        </p:nvSpPr>
        <p:spPr>
          <a:xfrm>
            <a:off x="457200" y="3611880"/>
            <a:ext cx="457200" cy="457200"/>
          </a:xfrm>
          <a:prstGeom prst="rect">
            <a:avLst/>
          </a:prstGeom>
          <a:noFill/>
          <a:ln/>
        </p:spPr>
        <p:txBody>
          <a:bodyPr wrap="square" lIns="0" tIns="0" rIns="0" bIns="0" rtlCol="0" anchor="ctr"/>
          <a:lstStyle/>
          <a:p>
            <a:pPr algn="ctr" indent="0" marL="0">
              <a:buNone/>
            </a:pPr>
            <a:r>
              <a:rPr lang="en-US" sz="1600" b="1" dirty="0">
                <a:solidFill>
                  <a:schemeClr val="tx2"/>
                </a:solidFill>
              </a:rPr>
              <a:t>4</a:t>
            </a:r>
            <a:endParaRPr lang="en-US" sz="1600" dirty="0"/>
          </a:p>
        </p:txBody>
      </p:sp>
      <p:sp>
        <p:nvSpPr>
          <p:cNvPr id="14" name="Text 12"/>
          <p:cNvSpPr txBox="1"/>
          <p:nvPr/>
        </p:nvSpPr>
        <p:spPr>
          <a:xfrm>
            <a:off x="1143000" y="3520440"/>
            <a:ext cx="4023360" cy="640080"/>
          </a:xfrm>
          <a:prstGeom prst="rect">
            <a:avLst/>
          </a:prstGeom>
          <a:noFill/>
          <a:ln/>
        </p:spPr>
        <p:txBody>
          <a:bodyPr wrap="square" lIns="0" tIns="0" rIns="0" bIns="0" rtlCol="0" anchor="ctr"/>
          <a:lstStyle/>
          <a:p>
            <a:pPr indent="0" marL="0">
              <a:buNone/>
            </a:pPr>
            <a:r>
              <a:rPr lang="en-US" sz="1600" dirty="0">
                <a:solidFill>
                  <a:schemeClr val="bg1"/>
                </a:solidFill>
              </a:rPr>
              <a:t>Stock 2× in the December–January peak</a:t>
            </a:r>
            <a:endParaRPr lang="en-US" sz="1600" dirty="0"/>
          </a:p>
        </p:txBody>
      </p:sp>
      <p:sp>
        <p:nvSpPr>
          <p:cNvPr id="15" name="Text 13"/>
          <p:cNvSpPr txBox="1"/>
          <p:nvPr/>
        </p:nvSpPr>
        <p:spPr>
          <a:xfrm>
            <a:off x="457200" y="4343400"/>
            <a:ext cx="4754880" cy="274320"/>
          </a:xfrm>
          <a:prstGeom prst="rect">
            <a:avLst/>
          </a:prstGeom>
          <a:noFill/>
          <a:ln/>
        </p:spPr>
        <p:txBody>
          <a:bodyPr wrap="square" lIns="0" tIns="0" rIns="0" bIns="0" rtlCol="0" anchor="ctr"/>
          <a:lstStyle/>
          <a:p>
            <a:pPr indent="0" marL="0">
              <a:buNone/>
            </a:pPr>
            <a:r>
              <a:rPr lang="en-US" sz="1200" dirty="0">
                <a:solidFill>
                  <a:schemeClr val="accent4"/>
                </a:solidFill>
              </a:rPr>
              <a:t>Code and results: </a:t>
            </a:r>
            <a:pPr indent="0" marL="0">
              <a:buNone/>
            </a:pPr>
            <a:r>
              <a:rPr lang="en-US" sz="1200" u="sng" dirty="0">
                <a:solidFill>
                  <a:schemeClr val="bg1"/>
                </a:solidFill>
                <a:hlinkClick r:id="rId1" invalidUrl="" action="" tgtFrame="" tooltip="" history="1" highlightClick="0" endSnd="0">
                  <a:extLst>
                    <a:ext uri="{A12FA001-AC4F-418D-AE19-62706E023703}">
                      <ahyp:hlinkClr xmlns:ahyp="http://schemas.microsoft.com/office/drawing/2018/hyperlinkcolor" val="tx"/>
                    </a:ext>
                  </a:extLst>
                </a:hlinkClick>
              </a:rPr>
              <a:t>github.com/RudrapuRavali/CDACL-005</a:t>
            </a:r>
            <a:endParaRPr lang="en-US" sz="1200" dirty="0"/>
          </a:p>
        </p:txBody>
      </p:sp>
      <p:sp>
        <p:nvSpPr>
          <p:cNvPr id="16" name="Skills card"/>
          <p:cNvSpPr/>
          <p:nvPr/>
        </p:nvSpPr>
        <p:spPr>
          <a:xfrm>
            <a:off x="5486400" y="1188720"/>
            <a:ext cx="3200400" cy="2971800"/>
          </a:xfrm>
          <a:prstGeom prst="roundRect">
            <a:avLst>
              <a:gd name="adj" fmla="val 3077"/>
            </a:avLst>
          </a:prstGeom>
          <a:solidFill>
            <a:schemeClr val="bg1"/>
          </a:solidFill>
          <a:ln/>
        </p:spPr>
      </p:sp>
      <p:sp>
        <p:nvSpPr>
          <p:cNvPr id="17" name="Text 15"/>
          <p:cNvSpPr txBox="1"/>
          <p:nvPr/>
        </p:nvSpPr>
        <p:spPr>
          <a:xfrm>
            <a:off x="5715000" y="1280160"/>
            <a:ext cx="2743200" cy="640080"/>
          </a:xfrm>
          <a:prstGeom prst="rect">
            <a:avLst/>
          </a:prstGeom>
          <a:noFill/>
          <a:ln/>
        </p:spPr>
        <p:txBody>
          <a:bodyPr wrap="square" lIns="0" tIns="0" rIns="0" bIns="0" rtlCol="0" anchor="ctr"/>
          <a:lstStyle/>
          <a:p>
            <a:pPr indent="0" marL="0">
              <a:buNone/>
            </a:pPr>
            <a:r>
              <a:rPr lang="en-US" sz="3800" b="1" dirty="0">
                <a:solidFill>
                  <a:schemeClr val="accent1"/>
                </a:solidFill>
                <a:latin typeface="Cambria" pitchFamily="34" charset="0"/>
                <a:ea typeface="Cambria" pitchFamily="34" charset="-122"/>
                <a:cs typeface="Cambria" pitchFamily="34" charset="-120"/>
              </a:rPr>
              <a:t>15–20%</a:t>
            </a:r>
            <a:endParaRPr lang="en-US" sz="3800" dirty="0"/>
          </a:p>
        </p:txBody>
      </p:sp>
      <p:sp>
        <p:nvSpPr>
          <p:cNvPr id="18" name="Text 16"/>
          <p:cNvSpPr txBox="1"/>
          <p:nvPr/>
        </p:nvSpPr>
        <p:spPr>
          <a:xfrm>
            <a:off x="5715000" y="1920240"/>
            <a:ext cx="2743200" cy="274320"/>
          </a:xfrm>
          <a:prstGeom prst="rect">
            <a:avLst/>
          </a:prstGeom>
          <a:noFill/>
          <a:ln/>
        </p:spPr>
        <p:txBody>
          <a:bodyPr wrap="square" lIns="0" tIns="0" rIns="0" bIns="0" rtlCol="0" anchor="ctr"/>
          <a:lstStyle/>
          <a:p>
            <a:pPr indent="0" marL="0">
              <a:buNone/>
            </a:pPr>
            <a:r>
              <a:rPr lang="en-US" sz="1400" dirty="0">
                <a:solidFill>
                  <a:schemeClr val="tx1"/>
                </a:solidFill>
              </a:rPr>
              <a:t>potential sales uplift</a:t>
            </a:r>
            <a:endParaRPr lang="en-US" sz="1400" dirty="0"/>
          </a:p>
        </p:txBody>
      </p:sp>
      <p:sp>
        <p:nvSpPr>
          <p:cNvPr id="19" name="Text 17"/>
          <p:cNvSpPr txBox="1"/>
          <p:nvPr/>
        </p:nvSpPr>
        <p:spPr>
          <a:xfrm>
            <a:off x="5715000" y="2377440"/>
            <a:ext cx="2743200" cy="320040"/>
          </a:xfrm>
          <a:prstGeom prst="rect">
            <a:avLst/>
          </a:prstGeom>
          <a:noFill/>
          <a:ln/>
        </p:spPr>
        <p:txBody>
          <a:bodyPr wrap="square" lIns="0" tIns="0" rIns="0" bIns="0" rtlCol="0" anchor="ctr"/>
          <a:lstStyle/>
          <a:p>
            <a:pPr indent="0" marL="0">
              <a:buNone/>
            </a:pPr>
            <a:r>
              <a:rPr lang="en-US" sz="1600" b="1" dirty="0">
                <a:solidFill>
                  <a:schemeClr val="tx2"/>
                </a:solidFill>
              </a:rPr>
              <a:t>Skills demonstrated</a:t>
            </a:r>
            <a:endParaRPr lang="en-US" sz="1600" dirty="0"/>
          </a:p>
        </p:txBody>
      </p:sp>
      <p:sp>
        <p:nvSpPr>
          <p:cNvPr id="20" name="Text 18"/>
          <p:cNvSpPr txBox="1"/>
          <p:nvPr/>
        </p:nvSpPr>
        <p:spPr>
          <a:xfrm>
            <a:off x="5715000" y="2743200"/>
            <a:ext cx="2743200" cy="12801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Python, Pandas, Mlxtend</a:t>
            </a:r>
            <a:endParaRPr lang="en-US" sz="1400" dirty="0"/>
          </a:p>
          <a:p>
            <a:pPr marL="342900" indent="-342900">
              <a:spcAft>
                <a:spcPts val="400"/>
              </a:spcAft>
              <a:buSzPct val="100000"/>
              <a:buChar char="•"/>
            </a:pPr>
            <a:r>
              <a:rPr lang="en-US" sz="1400" dirty="0">
                <a:solidFill>
                  <a:schemeClr val="tx1"/>
                </a:solidFill>
              </a:rPr>
              <a:t>Data cleaning and encoding</a:t>
            </a:r>
            <a:endParaRPr lang="en-US" sz="1400" dirty="0"/>
          </a:p>
          <a:p>
            <a:pPr marL="342900" indent="-342900">
              <a:spcAft>
                <a:spcPts val="400"/>
              </a:spcAft>
              <a:buSzPct val="100000"/>
              <a:buChar char="•"/>
            </a:pPr>
            <a:r>
              <a:rPr lang="en-US" sz="1400" dirty="0">
                <a:solidFill>
                  <a:schemeClr val="tx1"/>
                </a:solidFill>
              </a:rPr>
              <a:t>Association-rule mining</a:t>
            </a:r>
            <a:endParaRPr lang="en-US" sz="1400" dirty="0"/>
          </a:p>
          <a:p>
            <a:pPr marL="342900" indent="-342900">
              <a:spcAft>
                <a:spcPts val="400"/>
              </a:spcAft>
              <a:buSzPct val="100000"/>
              <a:buChar char="•"/>
            </a:pPr>
            <a:r>
              <a:rPr lang="en-US" sz="1400" dirty="0">
                <a:solidFill>
                  <a:schemeClr val="tx1"/>
                </a:solidFill>
              </a:rPr>
              <a:t>Visualisation and storytelling</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C4B0"/>
                </a:solidFill>
              </a:defRPr>
            </a:lvl1pPr>
          </a:lstStyle>
          <a:p>
            <a:pPr algn="l"/>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Fresh Market">
  <a:themeElements>
    <a:clrScheme name="Fresh Market">
      <a:dk1>
        <a:srgbClr val="1B2B24"/>
      </a:dk1>
      <a:lt1>
        <a:srgbClr val="FFFFFF"/>
      </a:lt1>
      <a:dk2>
        <a:srgbClr val="14342B"/>
      </a:dk2>
      <a:lt2>
        <a:srgbClr val="EEF5F0"/>
      </a:lt2>
      <a:accent1>
        <a:srgbClr val="2E7D5B"/>
      </a:accent1>
      <a:accent2>
        <a:srgbClr val="F28C28"/>
      </a:accent2>
      <a:accent3>
        <a:srgbClr val="7FB69A"/>
      </a:accent3>
      <a:accent4>
        <a:srgbClr val="C8E3D3"/>
      </a:accent4>
      <a:accent5>
        <a:srgbClr val="E5533D"/>
      </a:accent5>
      <a:accent6>
        <a:srgbClr val="5B6B64"/>
      </a:accent6>
      <a:hlink>
        <a:srgbClr val="2E7D5B"/>
      </a:hlink>
      <a:folHlink>
        <a:srgbClr val="5B6B64"/>
      </a:folHlink>
    </a:clrScheme>
    <a:fontScheme name="Fresh Marke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 Basket Analysis of Supermarket Transactions</dc:title>
  <dc:subject>PptxGenJS Presentation</dc:subject>
  <dc:creator>Rudrapu Ravali</dc:creator>
  <cp:lastModifiedBy>Rudrapu Ravali</cp:lastModifiedBy>
  <cp:revision>1</cp:revision>
  <dcterms:created xsi:type="dcterms:W3CDTF">2026-10-13T09:04:39Z</dcterms:created>
  <dcterms:modified xsi:type="dcterms:W3CDTF">2026-10-13T09:04:39Z</dcterms:modified>
</cp:coreProperties>
</file>